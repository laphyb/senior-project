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5" r:id="rId3"/>
    <p:sldId id="258" r:id="rId4"/>
    <p:sldId id="267" r:id="rId5"/>
    <p:sldId id="264" r:id="rId6"/>
    <p:sldId id="263" r:id="rId7"/>
    <p:sldId id="262" r:id="rId8"/>
    <p:sldId id="257" r:id="rId9"/>
    <p:sldId id="259" r:id="rId10"/>
    <p:sldId id="260" r:id="rId11"/>
    <p:sldId id="261"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77" y="6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3FC4801-AC06-43EF-8D45-E8C2FCE8D4DD}"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AEBE1F-54C0-4BFA-A2C6-B6038B545061}" type="slidenum">
              <a:rPr lang="en-US" smtClean="0"/>
              <a:t>‹#›</a:t>
            </a:fld>
            <a:endParaRPr lang="en-US"/>
          </a:p>
        </p:txBody>
      </p:sp>
    </p:spTree>
    <p:extLst>
      <p:ext uri="{BB962C8B-B14F-4D97-AF65-F5344CB8AC3E}">
        <p14:creationId xmlns:p14="http://schemas.microsoft.com/office/powerpoint/2010/main" val="1886520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FC4801-AC06-43EF-8D45-E8C2FCE8D4DD}"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AEBE1F-54C0-4BFA-A2C6-B6038B545061}" type="slidenum">
              <a:rPr lang="en-US" smtClean="0"/>
              <a:t>‹#›</a:t>
            </a:fld>
            <a:endParaRPr lang="en-US"/>
          </a:p>
        </p:txBody>
      </p:sp>
    </p:spTree>
    <p:extLst>
      <p:ext uri="{BB962C8B-B14F-4D97-AF65-F5344CB8AC3E}">
        <p14:creationId xmlns:p14="http://schemas.microsoft.com/office/powerpoint/2010/main" val="3378561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FC4801-AC06-43EF-8D45-E8C2FCE8D4DD}"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AEBE1F-54C0-4BFA-A2C6-B6038B545061}" type="slidenum">
              <a:rPr lang="en-US" smtClean="0"/>
              <a:t>‹#›</a:t>
            </a:fld>
            <a:endParaRPr lang="en-US"/>
          </a:p>
        </p:txBody>
      </p:sp>
    </p:spTree>
    <p:extLst>
      <p:ext uri="{BB962C8B-B14F-4D97-AF65-F5344CB8AC3E}">
        <p14:creationId xmlns:p14="http://schemas.microsoft.com/office/powerpoint/2010/main" val="862831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3FC4801-AC06-43EF-8D45-E8C2FCE8D4DD}"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AEBE1F-54C0-4BFA-A2C6-B6038B545061}" type="slidenum">
              <a:rPr lang="en-US" smtClean="0"/>
              <a:t>‹#›</a:t>
            </a:fld>
            <a:endParaRPr lang="en-US"/>
          </a:p>
        </p:txBody>
      </p:sp>
    </p:spTree>
    <p:extLst>
      <p:ext uri="{BB962C8B-B14F-4D97-AF65-F5344CB8AC3E}">
        <p14:creationId xmlns:p14="http://schemas.microsoft.com/office/powerpoint/2010/main" val="2053466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3FC4801-AC06-43EF-8D45-E8C2FCE8D4DD}"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AEBE1F-54C0-4BFA-A2C6-B6038B545061}" type="slidenum">
              <a:rPr lang="en-US" smtClean="0"/>
              <a:t>‹#›</a:t>
            </a:fld>
            <a:endParaRPr lang="en-US"/>
          </a:p>
        </p:txBody>
      </p:sp>
    </p:spTree>
    <p:extLst>
      <p:ext uri="{BB962C8B-B14F-4D97-AF65-F5344CB8AC3E}">
        <p14:creationId xmlns:p14="http://schemas.microsoft.com/office/powerpoint/2010/main" val="3555744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3FC4801-AC06-43EF-8D45-E8C2FCE8D4DD}" type="datetimeFigureOut">
              <a:rPr lang="en-US" smtClean="0"/>
              <a:t>4/23/2026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FFAEBE1F-54C0-4BFA-A2C6-B6038B545061}" type="slidenum">
              <a:rPr lang="en-US" smtClean="0"/>
              <a:t>‹#›</a:t>
            </a:fld>
            <a:endParaRPr lang="en-US"/>
          </a:p>
        </p:txBody>
      </p:sp>
    </p:spTree>
    <p:extLst>
      <p:ext uri="{BB962C8B-B14F-4D97-AF65-F5344CB8AC3E}">
        <p14:creationId xmlns:p14="http://schemas.microsoft.com/office/powerpoint/2010/main" val="3486813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3FC4801-AC06-43EF-8D45-E8C2FCE8D4DD}" type="datetimeFigureOut">
              <a:rPr lang="en-US" smtClean="0"/>
              <a:t>4/23/2026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FFAEBE1F-54C0-4BFA-A2C6-B6038B545061}" type="slidenum">
              <a:rPr lang="en-US" smtClean="0"/>
              <a:t>‹#›</a:t>
            </a:fld>
            <a:endParaRPr lang="en-US"/>
          </a:p>
        </p:txBody>
      </p:sp>
    </p:spTree>
    <p:extLst>
      <p:ext uri="{BB962C8B-B14F-4D97-AF65-F5344CB8AC3E}">
        <p14:creationId xmlns:p14="http://schemas.microsoft.com/office/powerpoint/2010/main" val="2645897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3FC4801-AC06-43EF-8D45-E8C2FCE8D4DD}" type="datetimeFigureOut">
              <a:rPr lang="en-US" smtClean="0"/>
              <a:t>4/23/2026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FFAEBE1F-54C0-4BFA-A2C6-B6038B545061}" type="slidenum">
              <a:rPr lang="en-US" smtClean="0"/>
              <a:t>‹#›</a:t>
            </a:fld>
            <a:endParaRPr lang="en-US"/>
          </a:p>
        </p:txBody>
      </p:sp>
    </p:spTree>
    <p:extLst>
      <p:ext uri="{BB962C8B-B14F-4D97-AF65-F5344CB8AC3E}">
        <p14:creationId xmlns:p14="http://schemas.microsoft.com/office/powerpoint/2010/main" val="4248216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FC4801-AC06-43EF-8D45-E8C2FCE8D4DD}"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AEBE1F-54C0-4BFA-A2C6-B6038B545061}" type="slidenum">
              <a:rPr lang="en-US" smtClean="0"/>
              <a:t>‹#›</a:t>
            </a:fld>
            <a:endParaRPr lang="en-US"/>
          </a:p>
        </p:txBody>
      </p:sp>
    </p:spTree>
    <p:extLst>
      <p:ext uri="{BB962C8B-B14F-4D97-AF65-F5344CB8AC3E}">
        <p14:creationId xmlns:p14="http://schemas.microsoft.com/office/powerpoint/2010/main" val="1439573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FC4801-AC06-43EF-8D45-E8C2FCE8D4DD}"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AEBE1F-54C0-4BFA-A2C6-B6038B545061}" type="slidenum">
              <a:rPr lang="en-US" smtClean="0"/>
              <a:t>‹#›</a:t>
            </a:fld>
            <a:endParaRPr lang="en-US"/>
          </a:p>
        </p:txBody>
      </p:sp>
    </p:spTree>
    <p:extLst>
      <p:ext uri="{BB962C8B-B14F-4D97-AF65-F5344CB8AC3E}">
        <p14:creationId xmlns:p14="http://schemas.microsoft.com/office/powerpoint/2010/main" val="3848474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3FC4801-AC06-43EF-8D45-E8C2FCE8D4DD}"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AEBE1F-54C0-4BFA-A2C6-B6038B545061}" type="slidenum">
              <a:rPr lang="en-US" smtClean="0"/>
              <a:t>‹#›</a:t>
            </a:fld>
            <a:endParaRPr lang="en-US"/>
          </a:p>
        </p:txBody>
      </p:sp>
    </p:spTree>
    <p:extLst>
      <p:ext uri="{BB962C8B-B14F-4D97-AF65-F5344CB8AC3E}">
        <p14:creationId xmlns:p14="http://schemas.microsoft.com/office/powerpoint/2010/main" val="1320139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3FC4801-AC06-43EF-8D45-E8C2FCE8D4DD}"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AEBE1F-54C0-4BFA-A2C6-B6038B545061}" type="slidenum">
              <a:rPr lang="en-US" smtClean="0"/>
              <a:t>‹#›</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3115721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FC4801-AC06-43EF-8D45-E8C2FCE8D4DD}"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AEBE1F-54C0-4BFA-A2C6-B6038B545061}" type="slidenum">
              <a:rPr lang="en-US" smtClean="0"/>
              <a:t>‹#›</a:t>
            </a:fld>
            <a:endParaRPr lang="en-US"/>
          </a:p>
        </p:txBody>
      </p:sp>
    </p:spTree>
    <p:extLst>
      <p:ext uri="{BB962C8B-B14F-4D97-AF65-F5344CB8AC3E}">
        <p14:creationId xmlns:p14="http://schemas.microsoft.com/office/powerpoint/2010/main" val="21487190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3FC4801-AC06-43EF-8D45-E8C2FCE8D4DD}" type="datetimeFigureOut">
              <a:rPr lang="en-US" smtClean="0"/>
              <a:t>4/23/2026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AEBE1F-54C0-4BFA-A2C6-B6038B545061}" type="slidenum">
              <a:rPr lang="en-US" smtClean="0"/>
              <a:t>‹#›</a:t>
            </a:fld>
            <a:endParaRPr lang="en-US"/>
          </a:p>
        </p:txBody>
      </p:sp>
    </p:spTree>
    <p:extLst>
      <p:ext uri="{BB962C8B-B14F-4D97-AF65-F5344CB8AC3E}">
        <p14:creationId xmlns:p14="http://schemas.microsoft.com/office/powerpoint/2010/main" val="28760407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3FC4801-AC06-43EF-8D45-E8C2FCE8D4DD}" type="datetimeFigureOut">
              <a:rPr lang="en-US" smtClean="0"/>
              <a:t>4/23/2026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AEBE1F-54C0-4BFA-A2C6-B6038B545061}" type="slidenum">
              <a:rPr lang="en-US" smtClean="0"/>
              <a:t>‹#›</a:t>
            </a:fld>
            <a:endParaRPr lang="en-US"/>
          </a:p>
        </p:txBody>
      </p:sp>
    </p:spTree>
    <p:extLst>
      <p:ext uri="{BB962C8B-B14F-4D97-AF65-F5344CB8AC3E}">
        <p14:creationId xmlns:p14="http://schemas.microsoft.com/office/powerpoint/2010/main" val="32147461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FC4801-AC06-43EF-8D45-E8C2FCE8D4DD}"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AEBE1F-54C0-4BFA-A2C6-B6038B545061}" type="slidenum">
              <a:rPr lang="en-US" smtClean="0"/>
              <a:t>‹#›</a:t>
            </a:fld>
            <a:endParaRPr lang="en-US"/>
          </a:p>
        </p:txBody>
      </p:sp>
    </p:spTree>
    <p:extLst>
      <p:ext uri="{BB962C8B-B14F-4D97-AF65-F5344CB8AC3E}">
        <p14:creationId xmlns:p14="http://schemas.microsoft.com/office/powerpoint/2010/main" val="41736641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FC4801-AC06-43EF-8D45-E8C2FCE8D4DD}"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AEBE1F-54C0-4BFA-A2C6-B6038B545061}" type="slidenum">
              <a:rPr lang="en-US" smtClean="0"/>
              <a:t>‹#›</a:t>
            </a:fld>
            <a:endParaRPr lang="en-US"/>
          </a:p>
        </p:txBody>
      </p:sp>
    </p:spTree>
    <p:extLst>
      <p:ext uri="{BB962C8B-B14F-4D97-AF65-F5344CB8AC3E}">
        <p14:creationId xmlns:p14="http://schemas.microsoft.com/office/powerpoint/2010/main" val="356392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3FC4801-AC06-43EF-8D45-E8C2FCE8D4DD}" type="datetimeFigureOut">
              <a:rPr lang="en-US" smtClean="0"/>
              <a:t>4/23/2026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FAEBE1F-54C0-4BFA-A2C6-B6038B545061}" type="slidenum">
              <a:rPr lang="en-US" smtClean="0"/>
              <a:t>‹#›</a:t>
            </a:fld>
            <a:endParaRPr lang="en-US"/>
          </a:p>
        </p:txBody>
      </p:sp>
    </p:spTree>
    <p:extLst>
      <p:ext uri="{BB962C8B-B14F-4D97-AF65-F5344CB8AC3E}">
        <p14:creationId xmlns:p14="http://schemas.microsoft.com/office/powerpoint/2010/main" val="4181227614"/>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C4877-BB5D-0EAC-206F-7CA7F066177B}"/>
              </a:ext>
            </a:extLst>
          </p:cNvPr>
          <p:cNvSpPr>
            <a:spLocks noGrp="1"/>
          </p:cNvSpPr>
          <p:nvPr>
            <p:ph type="ctrTitle"/>
          </p:nvPr>
        </p:nvSpPr>
        <p:spPr/>
        <p:txBody>
          <a:bodyPr/>
          <a:lstStyle/>
          <a:p>
            <a:r>
              <a:rPr lang="en-US" dirty="0"/>
              <a:t>Deliverable Check`</a:t>
            </a:r>
          </a:p>
        </p:txBody>
      </p:sp>
      <p:sp>
        <p:nvSpPr>
          <p:cNvPr id="3" name="Subtitle 2">
            <a:extLst>
              <a:ext uri="{FF2B5EF4-FFF2-40B4-BE49-F238E27FC236}">
                <a16:creationId xmlns:a16="http://schemas.microsoft.com/office/drawing/2014/main" id="{92EB81AE-8FF3-9DAD-C01F-9523FF9689E2}"/>
              </a:ext>
            </a:extLst>
          </p:cNvPr>
          <p:cNvSpPr>
            <a:spLocks noGrp="1"/>
          </p:cNvSpPr>
          <p:nvPr>
            <p:ph type="subTitle" idx="1"/>
          </p:nvPr>
        </p:nvSpPr>
        <p:spPr/>
        <p:txBody>
          <a:bodyPr/>
          <a:lstStyle/>
          <a:p>
            <a:r>
              <a:rPr lang="en-US" dirty="0"/>
              <a:t>Landen Barber</a:t>
            </a:r>
          </a:p>
        </p:txBody>
      </p:sp>
    </p:spTree>
    <p:extLst>
      <p:ext uri="{BB962C8B-B14F-4D97-AF65-F5344CB8AC3E}">
        <p14:creationId xmlns:p14="http://schemas.microsoft.com/office/powerpoint/2010/main" val="1268132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0199C-B923-06DD-6B13-91683B504F36}"/>
              </a:ext>
            </a:extLst>
          </p:cNvPr>
          <p:cNvSpPr>
            <a:spLocks noGrp="1"/>
          </p:cNvSpPr>
          <p:nvPr>
            <p:ph type="title"/>
          </p:nvPr>
        </p:nvSpPr>
        <p:spPr/>
        <p:txBody>
          <a:bodyPr/>
          <a:lstStyle/>
          <a:p>
            <a:r>
              <a:rPr lang="en-US" dirty="0"/>
              <a:t>No 3d models or PCB printed Yet</a:t>
            </a:r>
            <a:br>
              <a:rPr lang="en-US" dirty="0"/>
            </a:br>
            <a:endParaRPr lang="en-US" dirty="0"/>
          </a:p>
        </p:txBody>
      </p:sp>
      <p:sp>
        <p:nvSpPr>
          <p:cNvPr id="3" name="Content Placeholder 2">
            <a:extLst>
              <a:ext uri="{FF2B5EF4-FFF2-40B4-BE49-F238E27FC236}">
                <a16:creationId xmlns:a16="http://schemas.microsoft.com/office/drawing/2014/main" id="{10D776BE-6997-C1F7-F604-8A20A2F6270B}"/>
              </a:ext>
            </a:extLst>
          </p:cNvPr>
          <p:cNvSpPr>
            <a:spLocks noGrp="1"/>
          </p:cNvSpPr>
          <p:nvPr>
            <p:ph idx="1"/>
          </p:nvPr>
        </p:nvSpPr>
        <p:spPr/>
        <p:txBody>
          <a:bodyPr/>
          <a:lstStyle/>
          <a:p>
            <a:r>
              <a:rPr lang="en-US" dirty="0"/>
              <a:t>Even though I said I would print these weeks ago I keep putting it off.</a:t>
            </a:r>
          </a:p>
          <a:p>
            <a:endParaRPr lang="en-US" dirty="0"/>
          </a:p>
          <a:p>
            <a:r>
              <a:rPr lang="en-US" dirty="0"/>
              <a:t>Did one last rework of the pin assignments to give room for one more module to expand the storage using SPI microSD card.</a:t>
            </a:r>
          </a:p>
          <a:p>
            <a:r>
              <a:rPr lang="en-US" dirty="0"/>
              <a:t>Was not confident in the amount of storage the board had so I decided to add another part to give me more wiggle room in saving logs and a large history that the adaptive analyzer needs.</a:t>
            </a:r>
          </a:p>
          <a:p>
            <a:r>
              <a:rPr lang="en-US" dirty="0"/>
              <a:t>Part should arrive Friday 4/24, pin assignments and most code already done in advance</a:t>
            </a:r>
          </a:p>
        </p:txBody>
      </p:sp>
    </p:spTree>
    <p:extLst>
      <p:ext uri="{BB962C8B-B14F-4D97-AF65-F5344CB8AC3E}">
        <p14:creationId xmlns:p14="http://schemas.microsoft.com/office/powerpoint/2010/main" val="3285896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2BDE1-4EDA-8FBD-F6F9-4D14A3119344}"/>
              </a:ext>
            </a:extLst>
          </p:cNvPr>
          <p:cNvSpPr>
            <a:spLocks noGrp="1"/>
          </p:cNvSpPr>
          <p:nvPr>
            <p:ph type="title"/>
          </p:nvPr>
        </p:nvSpPr>
        <p:spPr/>
        <p:txBody>
          <a:bodyPr/>
          <a:lstStyle/>
          <a:p>
            <a:r>
              <a:rPr lang="en-US" dirty="0"/>
              <a:t>New Parts</a:t>
            </a:r>
          </a:p>
        </p:txBody>
      </p:sp>
      <p:sp>
        <p:nvSpPr>
          <p:cNvPr id="3" name="Content Placeholder 2">
            <a:extLst>
              <a:ext uri="{FF2B5EF4-FFF2-40B4-BE49-F238E27FC236}">
                <a16:creationId xmlns:a16="http://schemas.microsoft.com/office/drawing/2014/main" id="{97CA91BA-134E-2EAF-1BCA-BB75E314514C}"/>
              </a:ext>
            </a:extLst>
          </p:cNvPr>
          <p:cNvSpPr>
            <a:spLocks noGrp="1"/>
          </p:cNvSpPr>
          <p:nvPr>
            <p:ph idx="1"/>
          </p:nvPr>
        </p:nvSpPr>
        <p:spPr/>
        <p:txBody>
          <a:bodyPr/>
          <a:lstStyle/>
          <a:p>
            <a:r>
              <a:rPr lang="en-US" dirty="0"/>
              <a:t>MicroSD card expansion slot</a:t>
            </a:r>
          </a:p>
          <a:p>
            <a:r>
              <a:rPr lang="en-US" dirty="0"/>
              <a:t>Latching Button</a:t>
            </a:r>
          </a:p>
          <a:p>
            <a:r>
              <a:rPr lang="en-US" dirty="0"/>
              <a:t>M3 Screw and standoff set</a:t>
            </a:r>
          </a:p>
          <a:p>
            <a:r>
              <a:rPr lang="en-US" dirty="0"/>
              <a:t>Stackable Pin Headers</a:t>
            </a:r>
          </a:p>
        </p:txBody>
      </p:sp>
      <p:pic>
        <p:nvPicPr>
          <p:cNvPr id="7" name="Picture 6">
            <a:extLst>
              <a:ext uri="{FF2B5EF4-FFF2-40B4-BE49-F238E27FC236}">
                <a16:creationId xmlns:a16="http://schemas.microsoft.com/office/drawing/2014/main" id="{306DB17B-A4EE-CD33-27EC-5C0CD6A27E80}"/>
              </a:ext>
            </a:extLst>
          </p:cNvPr>
          <p:cNvPicPr>
            <a:picLocks noChangeAspect="1"/>
          </p:cNvPicPr>
          <p:nvPr/>
        </p:nvPicPr>
        <p:blipFill>
          <a:blip r:embed="rId2"/>
          <a:stretch>
            <a:fillRect/>
          </a:stretch>
        </p:blipFill>
        <p:spPr>
          <a:xfrm>
            <a:off x="1103312" y="3902638"/>
            <a:ext cx="6260277" cy="2650562"/>
          </a:xfrm>
          <a:prstGeom prst="rect">
            <a:avLst/>
          </a:prstGeom>
        </p:spPr>
      </p:pic>
      <p:pic>
        <p:nvPicPr>
          <p:cNvPr id="9" name="Picture 8">
            <a:extLst>
              <a:ext uri="{FF2B5EF4-FFF2-40B4-BE49-F238E27FC236}">
                <a16:creationId xmlns:a16="http://schemas.microsoft.com/office/drawing/2014/main" id="{DF28D017-9A01-79BD-A62E-4E770EE27AED}"/>
              </a:ext>
            </a:extLst>
          </p:cNvPr>
          <p:cNvPicPr>
            <a:picLocks noChangeAspect="1"/>
          </p:cNvPicPr>
          <p:nvPr/>
        </p:nvPicPr>
        <p:blipFill>
          <a:blip r:embed="rId3"/>
          <a:stretch>
            <a:fillRect/>
          </a:stretch>
        </p:blipFill>
        <p:spPr>
          <a:xfrm>
            <a:off x="7529238" y="2016466"/>
            <a:ext cx="3198397" cy="4536734"/>
          </a:xfrm>
          <a:prstGeom prst="rect">
            <a:avLst/>
          </a:prstGeom>
        </p:spPr>
      </p:pic>
    </p:spTree>
    <p:extLst>
      <p:ext uri="{BB962C8B-B14F-4D97-AF65-F5344CB8AC3E}">
        <p14:creationId xmlns:p14="http://schemas.microsoft.com/office/powerpoint/2010/main" val="1519080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E2501-5A02-BFEB-00B9-43F14289B530}"/>
              </a:ext>
            </a:extLst>
          </p:cNvPr>
          <p:cNvSpPr>
            <a:spLocks noGrp="1"/>
          </p:cNvSpPr>
          <p:nvPr>
            <p:ph type="title"/>
          </p:nvPr>
        </p:nvSpPr>
        <p:spPr/>
        <p:txBody>
          <a:bodyPr/>
          <a:lstStyle/>
          <a:p>
            <a:r>
              <a:rPr lang="en-US" dirty="0"/>
              <a:t>Small PCB design Update</a:t>
            </a:r>
          </a:p>
        </p:txBody>
      </p:sp>
      <p:sp>
        <p:nvSpPr>
          <p:cNvPr id="3" name="Content Placeholder 2">
            <a:extLst>
              <a:ext uri="{FF2B5EF4-FFF2-40B4-BE49-F238E27FC236}">
                <a16:creationId xmlns:a16="http://schemas.microsoft.com/office/drawing/2014/main" id="{D67381CD-0210-D346-DC7D-3D1556180E34}"/>
              </a:ext>
            </a:extLst>
          </p:cNvPr>
          <p:cNvSpPr>
            <a:spLocks noGrp="1"/>
          </p:cNvSpPr>
          <p:nvPr>
            <p:ph idx="1"/>
          </p:nvPr>
        </p:nvSpPr>
        <p:spPr/>
        <p:txBody>
          <a:bodyPr/>
          <a:lstStyle/>
          <a:p>
            <a:r>
              <a:rPr lang="en-US" dirty="0"/>
              <a:t>Added new parts, but still unfinished. Want to clean up also.</a:t>
            </a:r>
          </a:p>
        </p:txBody>
      </p:sp>
      <p:pic>
        <p:nvPicPr>
          <p:cNvPr id="7" name="Picture 6">
            <a:extLst>
              <a:ext uri="{FF2B5EF4-FFF2-40B4-BE49-F238E27FC236}">
                <a16:creationId xmlns:a16="http://schemas.microsoft.com/office/drawing/2014/main" id="{6183B54F-C757-B538-C518-36E30639FE43}"/>
              </a:ext>
            </a:extLst>
          </p:cNvPr>
          <p:cNvPicPr>
            <a:picLocks noChangeAspect="1"/>
          </p:cNvPicPr>
          <p:nvPr/>
        </p:nvPicPr>
        <p:blipFill>
          <a:blip r:embed="rId2"/>
          <a:stretch>
            <a:fillRect/>
          </a:stretch>
        </p:blipFill>
        <p:spPr>
          <a:xfrm>
            <a:off x="1474138" y="2712307"/>
            <a:ext cx="8204887" cy="3857189"/>
          </a:xfrm>
          <a:prstGeom prst="rect">
            <a:avLst/>
          </a:prstGeom>
        </p:spPr>
      </p:pic>
    </p:spTree>
    <p:extLst>
      <p:ext uri="{BB962C8B-B14F-4D97-AF65-F5344CB8AC3E}">
        <p14:creationId xmlns:p14="http://schemas.microsoft.com/office/powerpoint/2010/main" val="710881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78739-1BD4-6E9C-40C8-7443999AC785}"/>
              </a:ext>
            </a:extLst>
          </p:cNvPr>
          <p:cNvSpPr>
            <a:spLocks noGrp="1"/>
          </p:cNvSpPr>
          <p:nvPr>
            <p:ph type="title"/>
          </p:nvPr>
        </p:nvSpPr>
        <p:spPr>
          <a:xfrm>
            <a:off x="650669" y="629266"/>
            <a:ext cx="3330328" cy="1641986"/>
          </a:xfrm>
        </p:spPr>
        <p:txBody>
          <a:bodyPr>
            <a:normAutofit/>
          </a:bodyPr>
          <a:lstStyle/>
          <a:p>
            <a:pPr>
              <a:lnSpc>
                <a:spcPct val="90000"/>
              </a:lnSpc>
            </a:pPr>
            <a:r>
              <a:rPr lang="en-US" sz="3300"/>
              <a:t>Charging Circuit and Power Working</a:t>
            </a:r>
          </a:p>
        </p:txBody>
      </p:sp>
      <p:pic>
        <p:nvPicPr>
          <p:cNvPr id="7" name="Picture 6">
            <a:extLst>
              <a:ext uri="{FF2B5EF4-FFF2-40B4-BE49-F238E27FC236}">
                <a16:creationId xmlns:a16="http://schemas.microsoft.com/office/drawing/2014/main" id="{7D8708EA-FA31-F019-84B5-22827DC88BDD}"/>
              </a:ext>
            </a:extLst>
          </p:cNvPr>
          <p:cNvPicPr>
            <a:picLocks noChangeAspect="1"/>
          </p:cNvPicPr>
          <p:nvPr/>
        </p:nvPicPr>
        <p:blipFill>
          <a:blip r:embed="rId3"/>
          <a:srcRect l="5597" r="18614" b="-1"/>
          <a:stretch>
            <a:fillRect/>
          </a:stretch>
        </p:blipFill>
        <p:spPr>
          <a:xfrm>
            <a:off x="5290939" y="629266"/>
            <a:ext cx="6201506" cy="5625547"/>
          </a:xfrm>
          <a:prstGeom prst="rect">
            <a:avLst/>
          </a:prstGeom>
        </p:spPr>
      </p:pic>
      <p:sp>
        <p:nvSpPr>
          <p:cNvPr id="12" name="Rectangle 11">
            <a:extLst>
              <a:ext uri="{FF2B5EF4-FFF2-40B4-BE49-F238E27FC236}">
                <a16:creationId xmlns:a16="http://schemas.microsoft.com/office/drawing/2014/main" id="{B86EAD8C-E6F5-45BA-86CF-3EED09D84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42AF278D-1040-FE54-9FB9-A519089E3BCB}"/>
              </a:ext>
            </a:extLst>
          </p:cNvPr>
          <p:cNvSpPr>
            <a:spLocks noGrp="1"/>
          </p:cNvSpPr>
          <p:nvPr>
            <p:ph idx="1"/>
          </p:nvPr>
        </p:nvSpPr>
        <p:spPr>
          <a:xfrm>
            <a:off x="650669" y="2438400"/>
            <a:ext cx="3330328" cy="3809999"/>
          </a:xfrm>
        </p:spPr>
        <p:txBody>
          <a:bodyPr>
            <a:normAutofit/>
          </a:bodyPr>
          <a:lstStyle/>
          <a:p>
            <a:r>
              <a:rPr lang="en-US" dirty="0"/>
              <a:t>Power supply being charged while program is running on board not connected to computer.</a:t>
            </a:r>
          </a:p>
          <a:p>
            <a:r>
              <a:rPr lang="en-US" dirty="0"/>
              <a:t>Final Design will have actuating switch for power on and off, for now just a jumper wire.</a:t>
            </a:r>
          </a:p>
        </p:txBody>
      </p:sp>
    </p:spTree>
    <p:extLst>
      <p:ext uri="{BB962C8B-B14F-4D97-AF65-F5344CB8AC3E}">
        <p14:creationId xmlns:p14="http://schemas.microsoft.com/office/powerpoint/2010/main" val="3945383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852E9-F951-DDDC-16BC-10417B314264}"/>
              </a:ext>
            </a:extLst>
          </p:cNvPr>
          <p:cNvSpPr>
            <a:spLocks noGrp="1"/>
          </p:cNvSpPr>
          <p:nvPr>
            <p:ph type="title"/>
          </p:nvPr>
        </p:nvSpPr>
        <p:spPr/>
        <p:txBody>
          <a:bodyPr/>
          <a:lstStyle/>
          <a:p>
            <a:r>
              <a:rPr lang="en-US" dirty="0"/>
              <a:t>Stuck On BLE and HID interface.</a:t>
            </a:r>
            <a:br>
              <a:rPr lang="en-US" dirty="0"/>
            </a:br>
            <a:endParaRPr lang="en-US" dirty="0"/>
          </a:p>
        </p:txBody>
      </p:sp>
      <p:sp>
        <p:nvSpPr>
          <p:cNvPr id="3" name="Content Placeholder 2">
            <a:extLst>
              <a:ext uri="{FF2B5EF4-FFF2-40B4-BE49-F238E27FC236}">
                <a16:creationId xmlns:a16="http://schemas.microsoft.com/office/drawing/2014/main" id="{A45E9FF2-AF04-D9D8-B1A9-7306769C23B3}"/>
              </a:ext>
            </a:extLst>
          </p:cNvPr>
          <p:cNvSpPr>
            <a:spLocks noGrp="1"/>
          </p:cNvSpPr>
          <p:nvPr>
            <p:ph idx="1"/>
          </p:nvPr>
        </p:nvSpPr>
        <p:spPr/>
        <p:txBody>
          <a:bodyPr/>
          <a:lstStyle/>
          <a:p>
            <a:r>
              <a:rPr lang="en-US" dirty="0"/>
              <a:t>Got Bluetooth working on a P2P example project offered by STM, but my selected board does not have any code generation for HID setup.</a:t>
            </a:r>
          </a:p>
          <a:p>
            <a:r>
              <a:rPr lang="en-US" dirty="0"/>
              <a:t>I will either need to make it from scratch using a custom template which may be time consuming and difficult</a:t>
            </a:r>
          </a:p>
          <a:p>
            <a:r>
              <a:rPr lang="en-US" dirty="0"/>
              <a:t>Can also convert an example project from the WB55RG board which has many more examples of HID and is nearly identical in architecture. Apparently, this isn’t that hard and is somewhat documented.</a:t>
            </a:r>
          </a:p>
        </p:txBody>
      </p:sp>
    </p:spTree>
    <p:extLst>
      <p:ext uri="{BB962C8B-B14F-4D97-AF65-F5344CB8AC3E}">
        <p14:creationId xmlns:p14="http://schemas.microsoft.com/office/powerpoint/2010/main" val="3449401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7E366-682F-4F9D-CD1A-C5C35FB23E59}"/>
              </a:ext>
            </a:extLst>
          </p:cNvPr>
          <p:cNvSpPr>
            <a:spLocks noGrp="1"/>
          </p:cNvSpPr>
          <p:nvPr>
            <p:ph type="title"/>
          </p:nvPr>
        </p:nvSpPr>
        <p:spPr>
          <a:xfrm>
            <a:off x="646111" y="609601"/>
            <a:ext cx="4793473" cy="1675975"/>
          </a:xfrm>
        </p:spPr>
        <p:txBody>
          <a:bodyPr>
            <a:normAutofit/>
          </a:bodyPr>
          <a:lstStyle/>
          <a:p>
            <a:r>
              <a:rPr lang="en-US" dirty="0"/>
              <a:t>Main rewrite</a:t>
            </a:r>
          </a:p>
        </p:txBody>
      </p:sp>
      <p:pic>
        <p:nvPicPr>
          <p:cNvPr id="5" name="Content Placeholder 4">
            <a:extLst>
              <a:ext uri="{FF2B5EF4-FFF2-40B4-BE49-F238E27FC236}">
                <a16:creationId xmlns:a16="http://schemas.microsoft.com/office/drawing/2014/main" id="{3B4165C5-F02A-C752-8D17-4D3ACC9FDAF8}"/>
              </a:ext>
            </a:extLst>
          </p:cNvPr>
          <p:cNvPicPr>
            <a:picLocks noChangeAspect="1"/>
          </p:cNvPicPr>
          <p:nvPr/>
        </p:nvPicPr>
        <p:blipFill>
          <a:blip r:embed="rId3"/>
          <a:srcRect t="3891" r="2" b="8972"/>
          <a:stretch>
            <a:fillRect/>
          </a:stretch>
        </p:blipFill>
        <p:spPr>
          <a:xfrm>
            <a:off x="6094412" y="609137"/>
            <a:ext cx="5449888" cy="2766290"/>
          </a:xfrm>
          <a:prstGeom prst="rect">
            <a:avLst/>
          </a:prstGeom>
          <a:effectLst>
            <a:outerShdw blurRad="50800" dist="38100" dir="5400000" algn="t" rotWithShape="0">
              <a:prstClr val="black">
                <a:alpha val="43000"/>
              </a:prstClr>
            </a:outerShdw>
          </a:effectLst>
        </p:spPr>
      </p:pic>
      <p:sp>
        <p:nvSpPr>
          <p:cNvPr id="14" name="Rectangle 13">
            <a:extLst>
              <a:ext uri="{FF2B5EF4-FFF2-40B4-BE49-F238E27FC236}">
                <a16:creationId xmlns:a16="http://schemas.microsoft.com/office/drawing/2014/main" id="{CF6A01C6-A042-42B0-99DC-981834787F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Content Placeholder 10">
            <a:extLst>
              <a:ext uri="{FF2B5EF4-FFF2-40B4-BE49-F238E27FC236}">
                <a16:creationId xmlns:a16="http://schemas.microsoft.com/office/drawing/2014/main" id="{3144A495-D040-0C0A-A852-44F4B5BFE416}"/>
              </a:ext>
            </a:extLst>
          </p:cNvPr>
          <p:cNvSpPr>
            <a:spLocks noGrp="1"/>
          </p:cNvSpPr>
          <p:nvPr>
            <p:ph idx="1"/>
          </p:nvPr>
        </p:nvSpPr>
        <p:spPr>
          <a:xfrm>
            <a:off x="642175" y="2484544"/>
            <a:ext cx="4799145" cy="3763855"/>
          </a:xfrm>
        </p:spPr>
        <p:txBody>
          <a:bodyPr>
            <a:normAutofit/>
          </a:bodyPr>
          <a:lstStyle/>
          <a:p>
            <a:r>
              <a:rPr lang="en-US" dirty="0"/>
              <a:t>Doubled Clock Speed and got ADC/DMA working at faster speeds.</a:t>
            </a:r>
          </a:p>
          <a:p>
            <a:r>
              <a:rPr lang="en-US" dirty="0"/>
              <a:t>Main rewritten to be more appropriate </a:t>
            </a:r>
            <a:r>
              <a:rPr lang="en-US"/>
              <a:t>of usage.</a:t>
            </a:r>
            <a:endParaRPr lang="en-US" dirty="0"/>
          </a:p>
          <a:p>
            <a:endParaRPr lang="en-US" dirty="0"/>
          </a:p>
        </p:txBody>
      </p:sp>
      <p:pic>
        <p:nvPicPr>
          <p:cNvPr id="7" name="Picture 6">
            <a:extLst>
              <a:ext uri="{FF2B5EF4-FFF2-40B4-BE49-F238E27FC236}">
                <a16:creationId xmlns:a16="http://schemas.microsoft.com/office/drawing/2014/main" id="{8C5305FB-B764-779F-29C1-D01889B0E5A7}"/>
              </a:ext>
            </a:extLst>
          </p:cNvPr>
          <p:cNvPicPr>
            <a:picLocks noChangeAspect="1"/>
          </p:cNvPicPr>
          <p:nvPr/>
        </p:nvPicPr>
        <p:blipFill>
          <a:blip r:embed="rId4"/>
          <a:srcRect t="17465" r="2" b="2"/>
          <a:stretch>
            <a:fillRect/>
          </a:stretch>
        </p:blipFill>
        <p:spPr>
          <a:xfrm>
            <a:off x="6094412" y="3482108"/>
            <a:ext cx="5449888" cy="2766290"/>
          </a:xfrm>
          <a:prstGeom prst="rect">
            <a:avLst/>
          </a:prstGeom>
          <a:effectLst>
            <a:outerShdw blurRad="50800" dist="38100" dir="5400000" algn="t" rotWithShape="0">
              <a:prstClr val="black">
                <a:alpha val="43000"/>
              </a:prstClr>
            </a:outerShdw>
          </a:effectLst>
        </p:spPr>
      </p:pic>
      <p:pic>
        <p:nvPicPr>
          <p:cNvPr id="4" name="Picture 3">
            <a:extLst>
              <a:ext uri="{FF2B5EF4-FFF2-40B4-BE49-F238E27FC236}">
                <a16:creationId xmlns:a16="http://schemas.microsoft.com/office/drawing/2014/main" id="{39BA43D9-D308-AF66-7C87-A4A3E9B844F3}"/>
              </a:ext>
            </a:extLst>
          </p:cNvPr>
          <p:cNvPicPr>
            <a:picLocks noChangeAspect="1"/>
          </p:cNvPicPr>
          <p:nvPr/>
        </p:nvPicPr>
        <p:blipFill>
          <a:blip r:embed="rId5"/>
          <a:stretch>
            <a:fillRect/>
          </a:stretch>
        </p:blipFill>
        <p:spPr>
          <a:xfrm>
            <a:off x="1605055" y="4983891"/>
            <a:ext cx="4364071" cy="1133971"/>
          </a:xfrm>
          <a:prstGeom prst="rect">
            <a:avLst/>
          </a:prstGeom>
        </p:spPr>
      </p:pic>
    </p:spTree>
    <p:extLst>
      <p:ext uri="{BB962C8B-B14F-4D97-AF65-F5344CB8AC3E}">
        <p14:creationId xmlns:p14="http://schemas.microsoft.com/office/powerpoint/2010/main" val="2193650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B34E2-AAB8-804D-EC9B-81DF58316AA5}"/>
              </a:ext>
            </a:extLst>
          </p:cNvPr>
          <p:cNvSpPr>
            <a:spLocks noGrp="1"/>
          </p:cNvSpPr>
          <p:nvPr>
            <p:ph type="title"/>
          </p:nvPr>
        </p:nvSpPr>
        <p:spPr>
          <a:xfrm>
            <a:off x="648930" y="629266"/>
            <a:ext cx="3322912" cy="1641987"/>
          </a:xfrm>
        </p:spPr>
        <p:txBody>
          <a:bodyPr>
            <a:normAutofit/>
          </a:bodyPr>
          <a:lstStyle/>
          <a:p>
            <a:r>
              <a:rPr lang="en-US" dirty="0"/>
              <a:t>Config File</a:t>
            </a:r>
          </a:p>
        </p:txBody>
      </p:sp>
      <p:pic>
        <p:nvPicPr>
          <p:cNvPr id="5" name="Content Placeholder 4">
            <a:extLst>
              <a:ext uri="{FF2B5EF4-FFF2-40B4-BE49-F238E27FC236}">
                <a16:creationId xmlns:a16="http://schemas.microsoft.com/office/drawing/2014/main" id="{E52145A3-8491-9C1C-73C7-BC2EBFCD92CE}"/>
              </a:ext>
            </a:extLst>
          </p:cNvPr>
          <p:cNvPicPr>
            <a:picLocks noChangeAspect="1"/>
          </p:cNvPicPr>
          <p:nvPr/>
        </p:nvPicPr>
        <p:blipFill>
          <a:blip r:embed="rId3"/>
          <a:srcRect r="220" b="-1"/>
          <a:stretch>
            <a:fillRect/>
          </a:stretch>
        </p:blipFill>
        <p:spPr>
          <a:xfrm>
            <a:off x="4619544" y="609601"/>
            <a:ext cx="6924756" cy="5638797"/>
          </a:xfrm>
          <a:prstGeom prst="rect">
            <a:avLst/>
          </a:prstGeom>
          <a:effectLst>
            <a:outerShdw blurRad="50800" dist="38100" dir="5400000" algn="t" rotWithShape="0">
              <a:prstClr val="black">
                <a:alpha val="43000"/>
              </a:prstClr>
            </a:outerShdw>
          </a:effectLst>
        </p:spPr>
      </p:pic>
      <p:sp>
        <p:nvSpPr>
          <p:cNvPr id="12" name="Rectangle 11">
            <a:extLst>
              <a:ext uri="{FF2B5EF4-FFF2-40B4-BE49-F238E27FC236}">
                <a16:creationId xmlns:a16="http://schemas.microsoft.com/office/drawing/2014/main" id="{8B552A8E-DEF9-4254-BD69-E4D91C6A15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Content Placeholder 8">
            <a:extLst>
              <a:ext uri="{FF2B5EF4-FFF2-40B4-BE49-F238E27FC236}">
                <a16:creationId xmlns:a16="http://schemas.microsoft.com/office/drawing/2014/main" id="{C274560E-4C48-A1E5-DCF7-74B8D2B36B33}"/>
              </a:ext>
            </a:extLst>
          </p:cNvPr>
          <p:cNvSpPr>
            <a:spLocks noGrp="1"/>
          </p:cNvSpPr>
          <p:nvPr>
            <p:ph idx="1"/>
          </p:nvPr>
        </p:nvSpPr>
        <p:spPr>
          <a:xfrm>
            <a:off x="647701" y="2438401"/>
            <a:ext cx="3324141" cy="3809998"/>
          </a:xfrm>
        </p:spPr>
        <p:txBody>
          <a:bodyPr>
            <a:normAutofit/>
          </a:bodyPr>
          <a:lstStyle/>
          <a:p>
            <a:r>
              <a:rPr lang="en-US" dirty="0"/>
              <a:t>Start of config file</a:t>
            </a:r>
          </a:p>
          <a:p>
            <a:r>
              <a:rPr lang="en-US" dirty="0"/>
              <a:t>Just #defines for now, will need to turn into variable if I want to change them while code running</a:t>
            </a:r>
          </a:p>
        </p:txBody>
      </p:sp>
    </p:spTree>
    <p:extLst>
      <p:ext uri="{BB962C8B-B14F-4D97-AF65-F5344CB8AC3E}">
        <p14:creationId xmlns:p14="http://schemas.microsoft.com/office/powerpoint/2010/main" val="483561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FABD4-0F06-4B71-9DFE-9660E2FB8A33}"/>
              </a:ext>
            </a:extLst>
          </p:cNvPr>
          <p:cNvSpPr>
            <a:spLocks noGrp="1"/>
          </p:cNvSpPr>
          <p:nvPr>
            <p:ph type="title"/>
          </p:nvPr>
        </p:nvSpPr>
        <p:spPr>
          <a:xfrm>
            <a:off x="647701" y="452718"/>
            <a:ext cx="3978790" cy="1400530"/>
          </a:xfrm>
        </p:spPr>
        <p:txBody>
          <a:bodyPr>
            <a:normAutofit/>
          </a:bodyPr>
          <a:lstStyle/>
          <a:p>
            <a:r>
              <a:rPr lang="en-US" sz="3900"/>
              <a:t>Gesture Detector code</a:t>
            </a:r>
          </a:p>
        </p:txBody>
      </p:sp>
      <p:pic>
        <p:nvPicPr>
          <p:cNvPr id="9" name="Picture 8">
            <a:extLst>
              <a:ext uri="{FF2B5EF4-FFF2-40B4-BE49-F238E27FC236}">
                <a16:creationId xmlns:a16="http://schemas.microsoft.com/office/drawing/2014/main" id="{A8D4B345-3B9D-BA98-C0A8-DB83ED0ABB76}"/>
              </a:ext>
            </a:extLst>
          </p:cNvPr>
          <p:cNvPicPr>
            <a:picLocks noChangeAspect="1"/>
          </p:cNvPicPr>
          <p:nvPr/>
        </p:nvPicPr>
        <p:blipFill>
          <a:blip r:embed="rId3"/>
          <a:srcRect r="3" b="30233"/>
          <a:stretch>
            <a:fillRect/>
          </a:stretch>
        </p:blipFill>
        <p:spPr>
          <a:xfrm>
            <a:off x="5316658" y="10"/>
            <a:ext cx="6873804" cy="3428988"/>
          </a:xfrm>
          <a:prstGeom prst="rect">
            <a:avLst/>
          </a:prstGeom>
        </p:spPr>
      </p:pic>
      <p:sp>
        <p:nvSpPr>
          <p:cNvPr id="16" name="Rectangle 15">
            <a:extLst>
              <a:ext uri="{FF2B5EF4-FFF2-40B4-BE49-F238E27FC236}">
                <a16:creationId xmlns:a16="http://schemas.microsoft.com/office/drawing/2014/main" id="{ADD45ADE-A3FD-4347-8EA1-1AEAE13748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Content Placeholder 12">
            <a:extLst>
              <a:ext uri="{FF2B5EF4-FFF2-40B4-BE49-F238E27FC236}">
                <a16:creationId xmlns:a16="http://schemas.microsoft.com/office/drawing/2014/main" id="{C88B092E-668C-FD27-B327-1F1F7D0AABAA}"/>
              </a:ext>
            </a:extLst>
          </p:cNvPr>
          <p:cNvSpPr>
            <a:spLocks noGrp="1"/>
          </p:cNvSpPr>
          <p:nvPr>
            <p:ph idx="1"/>
          </p:nvPr>
        </p:nvSpPr>
        <p:spPr>
          <a:xfrm>
            <a:off x="647701" y="2052918"/>
            <a:ext cx="3977971" cy="4195481"/>
          </a:xfrm>
        </p:spPr>
        <p:txBody>
          <a:bodyPr>
            <a:normAutofit/>
          </a:bodyPr>
          <a:lstStyle/>
          <a:p>
            <a:r>
              <a:rPr lang="en-US" dirty="0"/>
              <a:t>Gesture detection code is largely complete, </a:t>
            </a:r>
            <a:r>
              <a:rPr lang="en-US" dirty="0" err="1"/>
              <a:t>butslightly</a:t>
            </a:r>
            <a:r>
              <a:rPr lang="en-US" dirty="0"/>
              <a:t> janky and difficult to test because of the state of wire mess.</a:t>
            </a:r>
          </a:p>
          <a:p>
            <a:r>
              <a:rPr lang="en-US" dirty="0"/>
              <a:t>Acts as a state machine which returns a gesture </a:t>
            </a:r>
            <a:r>
              <a:rPr lang="en-US" dirty="0" err="1"/>
              <a:t>enum</a:t>
            </a:r>
            <a:r>
              <a:rPr lang="en-US" dirty="0"/>
              <a:t> and logs the event when gesture is recognized.</a:t>
            </a:r>
          </a:p>
        </p:txBody>
      </p:sp>
      <p:pic>
        <p:nvPicPr>
          <p:cNvPr id="7" name="Picture 6">
            <a:extLst>
              <a:ext uri="{FF2B5EF4-FFF2-40B4-BE49-F238E27FC236}">
                <a16:creationId xmlns:a16="http://schemas.microsoft.com/office/drawing/2014/main" id="{BD44EC7F-4AD9-3A4A-1EB6-D6D9749A4F2F}"/>
              </a:ext>
            </a:extLst>
          </p:cNvPr>
          <p:cNvPicPr>
            <a:picLocks noChangeAspect="1"/>
          </p:cNvPicPr>
          <p:nvPr/>
        </p:nvPicPr>
        <p:blipFill>
          <a:blip r:embed="rId4"/>
          <a:srcRect t="1077" r="-2" b="5885"/>
          <a:stretch>
            <a:fillRect/>
          </a:stretch>
        </p:blipFill>
        <p:spPr>
          <a:xfrm>
            <a:off x="5316658" y="3428998"/>
            <a:ext cx="3436902" cy="3428998"/>
          </a:xfrm>
          <a:prstGeom prst="rect">
            <a:avLst/>
          </a:prstGeom>
        </p:spPr>
      </p:pic>
      <p:pic>
        <p:nvPicPr>
          <p:cNvPr id="5" name="Content Placeholder 4">
            <a:extLst>
              <a:ext uri="{FF2B5EF4-FFF2-40B4-BE49-F238E27FC236}">
                <a16:creationId xmlns:a16="http://schemas.microsoft.com/office/drawing/2014/main" id="{D723B697-1083-57BF-971F-C7DDE2040511}"/>
              </a:ext>
            </a:extLst>
          </p:cNvPr>
          <p:cNvPicPr>
            <a:picLocks noChangeAspect="1"/>
          </p:cNvPicPr>
          <p:nvPr/>
        </p:nvPicPr>
        <p:blipFill>
          <a:blip r:embed="rId5"/>
          <a:srcRect r="36854" b="-1"/>
          <a:stretch>
            <a:fillRect/>
          </a:stretch>
        </p:blipFill>
        <p:spPr>
          <a:xfrm>
            <a:off x="8753560" y="3428998"/>
            <a:ext cx="3436902" cy="3428996"/>
          </a:xfrm>
          <a:prstGeom prst="rect">
            <a:avLst/>
          </a:prstGeom>
        </p:spPr>
      </p:pic>
      <p:cxnSp>
        <p:nvCxnSpPr>
          <p:cNvPr id="18" name="Straight Connector 17">
            <a:extLst>
              <a:ext uri="{FF2B5EF4-FFF2-40B4-BE49-F238E27FC236}">
                <a16:creationId xmlns:a16="http://schemas.microsoft.com/office/drawing/2014/main" id="{C5B893B6-3536-4763-A5A0-07B7DFA2913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53560" y="3428998"/>
            <a:ext cx="0" cy="342899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A2A655D-DD6A-431B-84B5-B5278B1AF6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16658" y="3428998"/>
            <a:ext cx="687380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A101EF85-00E8-EDDE-368D-2B389BE2E87A}"/>
              </a:ext>
            </a:extLst>
          </p:cNvPr>
          <p:cNvPicPr>
            <a:picLocks noChangeAspect="1"/>
          </p:cNvPicPr>
          <p:nvPr/>
        </p:nvPicPr>
        <p:blipFill>
          <a:blip r:embed="rId6"/>
          <a:stretch>
            <a:fillRect/>
          </a:stretch>
        </p:blipFill>
        <p:spPr>
          <a:xfrm>
            <a:off x="2399849" y="5493919"/>
            <a:ext cx="2762636" cy="1076475"/>
          </a:xfrm>
          <a:prstGeom prst="rect">
            <a:avLst/>
          </a:prstGeom>
        </p:spPr>
      </p:pic>
    </p:spTree>
    <p:extLst>
      <p:ext uri="{BB962C8B-B14F-4D97-AF65-F5344CB8AC3E}">
        <p14:creationId xmlns:p14="http://schemas.microsoft.com/office/powerpoint/2010/main" val="1483697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26271-DD8A-9617-A9F7-D5BEC453B940}"/>
              </a:ext>
            </a:extLst>
          </p:cNvPr>
          <p:cNvSpPr>
            <a:spLocks noGrp="1"/>
          </p:cNvSpPr>
          <p:nvPr>
            <p:ph type="title"/>
          </p:nvPr>
        </p:nvSpPr>
        <p:spPr>
          <a:xfrm>
            <a:off x="646111" y="609601"/>
            <a:ext cx="4793473" cy="1675975"/>
          </a:xfrm>
        </p:spPr>
        <p:txBody>
          <a:bodyPr vert="horz" lIns="91440" tIns="45720" rIns="91440" bIns="45720" rtlCol="0">
            <a:normAutofit/>
          </a:bodyPr>
          <a:lstStyle/>
          <a:p>
            <a:r>
              <a:rPr lang="en-US" dirty="0"/>
              <a:t>Gesture to Mouse Movement </a:t>
            </a:r>
            <a:endParaRPr lang="en-US"/>
          </a:p>
        </p:txBody>
      </p:sp>
      <p:pic>
        <p:nvPicPr>
          <p:cNvPr id="5" name="Content Placeholder 4">
            <a:extLst>
              <a:ext uri="{FF2B5EF4-FFF2-40B4-BE49-F238E27FC236}">
                <a16:creationId xmlns:a16="http://schemas.microsoft.com/office/drawing/2014/main" id="{7E11C8C9-76EA-08A5-3F38-3ECD0508531D}"/>
              </a:ext>
            </a:extLst>
          </p:cNvPr>
          <p:cNvPicPr>
            <a:picLocks noChangeAspect="1"/>
          </p:cNvPicPr>
          <p:nvPr/>
        </p:nvPicPr>
        <p:blipFill>
          <a:blip r:embed="rId3"/>
          <a:srcRect r="32524" b="1"/>
          <a:stretch>
            <a:fillRect/>
          </a:stretch>
        </p:blipFill>
        <p:spPr>
          <a:xfrm>
            <a:off x="6094412" y="609137"/>
            <a:ext cx="5449888" cy="2766290"/>
          </a:xfrm>
          <a:prstGeom prst="rect">
            <a:avLst/>
          </a:prstGeom>
          <a:effectLst>
            <a:outerShdw blurRad="50800" dist="38100" dir="5400000" algn="t" rotWithShape="0">
              <a:prstClr val="black">
                <a:alpha val="43000"/>
              </a:prstClr>
            </a:outerShdw>
          </a:effectLst>
        </p:spPr>
      </p:pic>
      <p:sp>
        <p:nvSpPr>
          <p:cNvPr id="29" name="Rectangle 28">
            <a:extLst>
              <a:ext uri="{FF2B5EF4-FFF2-40B4-BE49-F238E27FC236}">
                <a16:creationId xmlns:a16="http://schemas.microsoft.com/office/drawing/2014/main" id="{CF6A01C6-A042-42B0-99DC-981834787F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Content Placeholder 25">
            <a:extLst>
              <a:ext uri="{FF2B5EF4-FFF2-40B4-BE49-F238E27FC236}">
                <a16:creationId xmlns:a16="http://schemas.microsoft.com/office/drawing/2014/main" id="{F246D445-2F72-6740-93E2-B95B14EFF678}"/>
              </a:ext>
            </a:extLst>
          </p:cNvPr>
          <p:cNvSpPr>
            <a:spLocks noGrp="1"/>
          </p:cNvSpPr>
          <p:nvPr>
            <p:ph idx="1"/>
          </p:nvPr>
        </p:nvSpPr>
        <p:spPr>
          <a:xfrm>
            <a:off x="642175" y="2484544"/>
            <a:ext cx="4799145" cy="3763855"/>
          </a:xfrm>
        </p:spPr>
        <p:txBody>
          <a:bodyPr>
            <a:normAutofit/>
          </a:bodyPr>
          <a:lstStyle/>
          <a:p>
            <a:r>
              <a:rPr lang="en-US" dirty="0"/>
              <a:t>Though cannot be implemented yet as I don’t have BLE or HID, Gesture to cursor movement should be mostly done.</a:t>
            </a:r>
          </a:p>
        </p:txBody>
      </p:sp>
      <p:pic>
        <p:nvPicPr>
          <p:cNvPr id="7" name="Picture 6">
            <a:extLst>
              <a:ext uri="{FF2B5EF4-FFF2-40B4-BE49-F238E27FC236}">
                <a16:creationId xmlns:a16="http://schemas.microsoft.com/office/drawing/2014/main" id="{16DC712C-9591-CDC8-ADE4-581248F2420E}"/>
              </a:ext>
            </a:extLst>
          </p:cNvPr>
          <p:cNvPicPr>
            <a:picLocks noChangeAspect="1"/>
          </p:cNvPicPr>
          <p:nvPr/>
        </p:nvPicPr>
        <p:blipFill>
          <a:blip r:embed="rId4"/>
          <a:srcRect t="15824" r="2" b="9532"/>
          <a:stretch>
            <a:fillRect/>
          </a:stretch>
        </p:blipFill>
        <p:spPr>
          <a:xfrm>
            <a:off x="6094412" y="3482108"/>
            <a:ext cx="5449888" cy="2766290"/>
          </a:xfrm>
          <a:prstGeom prst="rect">
            <a:avLst/>
          </a:prstGeom>
          <a:effectLst>
            <a:outerShdw blurRad="50800" dist="38100" dir="5400000" algn="t" rotWithShape="0">
              <a:prstClr val="black">
                <a:alpha val="43000"/>
              </a:prstClr>
            </a:outerShdw>
          </a:effectLst>
        </p:spPr>
      </p:pic>
      <p:pic>
        <p:nvPicPr>
          <p:cNvPr id="4" name="Picture 3">
            <a:extLst>
              <a:ext uri="{FF2B5EF4-FFF2-40B4-BE49-F238E27FC236}">
                <a16:creationId xmlns:a16="http://schemas.microsoft.com/office/drawing/2014/main" id="{CEC2D566-CC3E-2916-A829-E37675899AEF}"/>
              </a:ext>
            </a:extLst>
          </p:cNvPr>
          <p:cNvPicPr>
            <a:picLocks noChangeAspect="1"/>
          </p:cNvPicPr>
          <p:nvPr/>
        </p:nvPicPr>
        <p:blipFill>
          <a:blip r:embed="rId5"/>
          <a:stretch>
            <a:fillRect/>
          </a:stretch>
        </p:blipFill>
        <p:spPr>
          <a:xfrm>
            <a:off x="3635287" y="4275360"/>
            <a:ext cx="2257740" cy="1752845"/>
          </a:xfrm>
          <a:prstGeom prst="rect">
            <a:avLst/>
          </a:prstGeom>
        </p:spPr>
      </p:pic>
    </p:spTree>
    <p:extLst>
      <p:ext uri="{BB962C8B-B14F-4D97-AF65-F5344CB8AC3E}">
        <p14:creationId xmlns:p14="http://schemas.microsoft.com/office/powerpoint/2010/main" val="2569848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76B4B-41C1-FB28-C997-4F8A8766B616}"/>
              </a:ext>
            </a:extLst>
          </p:cNvPr>
          <p:cNvSpPr>
            <a:spLocks noGrp="1"/>
          </p:cNvSpPr>
          <p:nvPr>
            <p:ph type="title"/>
          </p:nvPr>
        </p:nvSpPr>
        <p:spPr>
          <a:xfrm>
            <a:off x="648930" y="629266"/>
            <a:ext cx="4795482" cy="1641987"/>
          </a:xfrm>
        </p:spPr>
        <p:txBody>
          <a:bodyPr>
            <a:normAutofit/>
          </a:bodyPr>
          <a:lstStyle/>
          <a:p>
            <a:r>
              <a:rPr lang="en-US" dirty="0"/>
              <a:t>Adaptive Analyzer</a:t>
            </a:r>
          </a:p>
        </p:txBody>
      </p:sp>
      <p:pic>
        <p:nvPicPr>
          <p:cNvPr id="5" name="Content Placeholder 4">
            <a:extLst>
              <a:ext uri="{FF2B5EF4-FFF2-40B4-BE49-F238E27FC236}">
                <a16:creationId xmlns:a16="http://schemas.microsoft.com/office/drawing/2014/main" id="{B356B794-5DAD-FC1E-68A7-DBA1ECEF725B}"/>
              </a:ext>
            </a:extLst>
          </p:cNvPr>
          <p:cNvPicPr>
            <a:picLocks noChangeAspect="1"/>
          </p:cNvPicPr>
          <p:nvPr/>
        </p:nvPicPr>
        <p:blipFill>
          <a:blip r:embed="rId3"/>
          <a:srcRect r="51675"/>
          <a:stretch>
            <a:fillRect/>
          </a:stretch>
        </p:blipFill>
        <p:spPr>
          <a:xfrm>
            <a:off x="6094410" y="609601"/>
            <a:ext cx="5449889" cy="5638797"/>
          </a:xfrm>
          <a:prstGeom prst="rect">
            <a:avLst/>
          </a:prstGeom>
          <a:effectLst>
            <a:outerShdw blurRad="50800" dist="38100" dir="5400000" algn="t" rotWithShape="0">
              <a:prstClr val="black">
                <a:alpha val="43000"/>
              </a:prstClr>
            </a:outerShdw>
          </a:effectLst>
        </p:spPr>
      </p:pic>
      <p:sp>
        <p:nvSpPr>
          <p:cNvPr id="12" name="Rectangle 11">
            <a:extLst>
              <a:ext uri="{FF2B5EF4-FFF2-40B4-BE49-F238E27FC236}">
                <a16:creationId xmlns:a16="http://schemas.microsoft.com/office/drawing/2014/main" id="{DC111578-7105-4228-B481-A1CA45D18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Content Placeholder 8">
            <a:extLst>
              <a:ext uri="{FF2B5EF4-FFF2-40B4-BE49-F238E27FC236}">
                <a16:creationId xmlns:a16="http://schemas.microsoft.com/office/drawing/2014/main" id="{ABDCD64B-6CBA-3F9B-5674-BC99719DE1A1}"/>
              </a:ext>
            </a:extLst>
          </p:cNvPr>
          <p:cNvSpPr>
            <a:spLocks noGrp="1"/>
          </p:cNvSpPr>
          <p:nvPr>
            <p:ph idx="1"/>
          </p:nvPr>
        </p:nvSpPr>
        <p:spPr>
          <a:xfrm>
            <a:off x="647701" y="2438401"/>
            <a:ext cx="4797256" cy="3809998"/>
          </a:xfrm>
        </p:spPr>
        <p:txBody>
          <a:bodyPr>
            <a:normAutofit/>
          </a:bodyPr>
          <a:lstStyle/>
          <a:p>
            <a:r>
              <a:rPr lang="en-US" dirty="0"/>
              <a:t>Not implemented yet but is the next step in software design.</a:t>
            </a:r>
          </a:p>
        </p:txBody>
      </p:sp>
    </p:spTree>
    <p:extLst>
      <p:ext uri="{BB962C8B-B14F-4D97-AF65-F5344CB8AC3E}">
        <p14:creationId xmlns:p14="http://schemas.microsoft.com/office/powerpoint/2010/main" val="3131782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9259F-AB2B-4EA3-6C80-E87266C2FF01}"/>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D3DAD75F-47FC-A232-70C7-678D78315BDB}"/>
              </a:ext>
            </a:extLst>
          </p:cNvPr>
          <p:cNvSpPr>
            <a:spLocks noGrp="1"/>
          </p:cNvSpPr>
          <p:nvPr>
            <p:ph idx="1"/>
          </p:nvPr>
        </p:nvSpPr>
        <p:spPr/>
        <p:txBody>
          <a:bodyPr/>
          <a:lstStyle/>
          <a:p>
            <a:r>
              <a:rPr lang="en-US" dirty="0"/>
              <a:t>Get BLE and HID communication working</a:t>
            </a:r>
          </a:p>
          <a:p>
            <a:r>
              <a:rPr lang="en-US" dirty="0"/>
              <a:t>Finalize Multilevel PCB to print (by Sunday 4/26 at the latest)</a:t>
            </a:r>
          </a:p>
          <a:p>
            <a:r>
              <a:rPr lang="en-US" dirty="0"/>
              <a:t>Print Cad Models (Have finished prints by next Friday)</a:t>
            </a:r>
          </a:p>
          <a:p>
            <a:r>
              <a:rPr lang="en-US" dirty="0"/>
              <a:t>Assemble (Parts should come in at the same time allowing me to finally construct controller)</a:t>
            </a:r>
          </a:p>
          <a:p>
            <a:r>
              <a:rPr lang="en-US" dirty="0"/>
              <a:t>While waiting for parts continue working on software portion </a:t>
            </a:r>
          </a:p>
          <a:p>
            <a:r>
              <a:rPr lang="en-US" dirty="0"/>
              <a:t>After put together, fine tune gesture control settings to do more accurate testing</a:t>
            </a:r>
          </a:p>
        </p:txBody>
      </p:sp>
    </p:spTree>
    <p:extLst>
      <p:ext uri="{BB962C8B-B14F-4D97-AF65-F5344CB8AC3E}">
        <p14:creationId xmlns:p14="http://schemas.microsoft.com/office/powerpoint/2010/main" val="23859874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73</TotalTime>
  <Words>473</Words>
  <Application>Microsoft Office PowerPoint</Application>
  <PresentationFormat>Widescreen</PresentationFormat>
  <Paragraphs>42</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Century Gothic</vt:lpstr>
      <vt:lpstr>Wingdings 3</vt:lpstr>
      <vt:lpstr>Ion</vt:lpstr>
      <vt:lpstr>Deliverable Check`</vt:lpstr>
      <vt:lpstr>No 3d models or PCB printed Yet </vt:lpstr>
      <vt:lpstr>New Parts</vt:lpstr>
      <vt:lpstr>Small PCB design Update</vt:lpstr>
      <vt:lpstr>Charging Circuit and Power Working</vt:lpstr>
      <vt:lpstr>Stuck On BLE and HID interface. </vt:lpstr>
      <vt:lpstr>Main rewrite</vt:lpstr>
      <vt:lpstr>Config File</vt:lpstr>
      <vt:lpstr>Gesture Detector code</vt:lpstr>
      <vt:lpstr>Gesture to Mouse Movement </vt:lpstr>
      <vt:lpstr>Adaptive Analyzer</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Landen Barber</dc:creator>
  <cp:lastModifiedBy>Landen Barber</cp:lastModifiedBy>
  <cp:revision>20</cp:revision>
  <dcterms:created xsi:type="dcterms:W3CDTF">2026-04-23T18:47:05Z</dcterms:created>
  <dcterms:modified xsi:type="dcterms:W3CDTF">2026-04-23T20:01:14Z</dcterms:modified>
</cp:coreProperties>
</file>